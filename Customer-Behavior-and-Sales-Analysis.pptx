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4630400" cy="8229600"/>
  <p:notesSz cx="8229600" cy="14630400"/>
  <p:embeddedFontLst>
    <p:embeddedFont>
      <p:font typeface="Quattrocento"/>
      <p:regular r:id="rId8"/>
    </p:embeddedFont>
    <p:embeddedFont>
      <p:font typeface="Quattrocento"/>
      <p:regular r:id="rId9"/>
    </p:embeddedFont>
    <p:embeddedFont>
      <p:font typeface="Quattrocento"/>
      <p:regular r:id="rId10"/>
    </p:embeddedFont>
    <p:embeddedFont>
      <p:font typeface="Quattrocento"/>
      <p:regular r:id="rId11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Relationship Id="rId8" Type="http://schemas.openxmlformats.org/officeDocument/2006/relationships/font" Target="fonts/font1.fntdata"/><Relationship Id="rId9" Type="http://schemas.openxmlformats.org/officeDocument/2006/relationships/font" Target="fonts/font2.fntdata"/><Relationship Id="rId10" Type="http://schemas.openxmlformats.org/officeDocument/2006/relationships/font" Target="fonts/font3.fntdata"/><Relationship Id="rId11" Type="http://schemas.openxmlformats.org/officeDocument/2006/relationships/font" Target="fonts/font4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C424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23332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svg"/><Relationship Id="rId6" Type="http://schemas.openxmlformats.org/officeDocument/2006/relationships/image" Target="../media/image-1-6.png"/><Relationship Id="rId7" Type="http://schemas.openxmlformats.org/officeDocument/2006/relationships/image" Target="../media/image-1-7.svg"/><Relationship Id="rId8" Type="http://schemas.openxmlformats.org/officeDocument/2006/relationships/image" Target="../media/image-1-8.png"/><Relationship Id="rId9" Type="http://schemas.openxmlformats.org/officeDocument/2006/relationships/image" Target="../media/image-1-9.svg"/><Relationship Id="rId10" Type="http://schemas.openxmlformats.org/officeDocument/2006/relationships/image" Target="../media/image-1-10.png"/><Relationship Id="rId11" Type="http://schemas.openxmlformats.org/officeDocument/2006/relationships/image" Target="../media/image-1-11.svg"/><Relationship Id="rId12" Type="http://schemas.openxmlformats.org/officeDocument/2006/relationships/slideLayout" Target="../slideLayouts/slideLayout2.xml"/><Relationship Id="rId1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428762" y="329089"/>
            <a:ext cx="4520922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FFD9BE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Customer Behavior &amp; Sales Analysis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3428762" y="800695"/>
            <a:ext cx="7772757" cy="2871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9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Analyzing </a:t>
            </a:r>
            <a:pPr algn="l" indent="0" marL="0">
              <a:lnSpc>
                <a:spcPts val="1100"/>
              </a:lnSpc>
              <a:buNone/>
            </a:pPr>
            <a:r>
              <a:rPr lang="en-US" sz="900" b="1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3,900 transactions</a:t>
            </a:r>
            <a:pPr algn="l" indent="0" marL="0">
              <a:lnSpc>
                <a:spcPts val="1100"/>
              </a:lnSpc>
              <a:buNone/>
            </a:pPr>
            <a:r>
              <a:rPr lang="en-US" sz="9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 across 18 features — demographics, purchase details, and shopping behavior — to uncover insights that guide strategic business decisions.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3428762" y="1222415"/>
            <a:ext cx="1840230" cy="1049417"/>
          </a:xfrm>
          <a:prstGeom prst="roundRect">
            <a:avLst>
              <a:gd name="adj" fmla="val 1711"/>
            </a:avLst>
          </a:prstGeom>
          <a:solidFill>
            <a:srgbClr val="315251"/>
          </a:solidFill>
          <a:ln/>
        </p:spPr>
      </p:sp>
      <p:sp>
        <p:nvSpPr>
          <p:cNvPr id="5" name="Text 3"/>
          <p:cNvSpPr/>
          <p:nvPr/>
        </p:nvSpPr>
        <p:spPr>
          <a:xfrm>
            <a:off x="3548420" y="1342073"/>
            <a:ext cx="1408033" cy="1759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1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Dataset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548420" y="1577816"/>
            <a:ext cx="1600914" cy="5743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9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3,900 rows · 18 columns · 37 missing review ratings (imputed by category median)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328761" y="1222415"/>
            <a:ext cx="1840349" cy="1049417"/>
          </a:xfrm>
          <a:prstGeom prst="roundRect">
            <a:avLst>
              <a:gd name="adj" fmla="val 1711"/>
            </a:avLst>
          </a:prstGeom>
          <a:solidFill>
            <a:srgbClr val="315251"/>
          </a:solidFill>
          <a:ln/>
        </p:spPr>
      </p:sp>
      <p:sp>
        <p:nvSpPr>
          <p:cNvPr id="8" name="Text 6"/>
          <p:cNvSpPr/>
          <p:nvPr/>
        </p:nvSpPr>
        <p:spPr>
          <a:xfrm>
            <a:off x="5448419" y="1342073"/>
            <a:ext cx="1408033" cy="1759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1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Tools Used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448419" y="1577816"/>
            <a:ext cx="1601033" cy="430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9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Python (pandas) → PostgreSQL (SQL analysis) → Power BI (dashboard)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7468672" y="1222415"/>
            <a:ext cx="1840230" cy="762238"/>
          </a:xfrm>
          <a:prstGeom prst="roundRect">
            <a:avLst>
              <a:gd name="adj" fmla="val 2355"/>
            </a:avLst>
          </a:prstGeom>
          <a:solidFill>
            <a:srgbClr val="315251"/>
          </a:solidFill>
          <a:ln/>
        </p:spPr>
      </p:sp>
      <p:sp>
        <p:nvSpPr>
          <p:cNvPr id="11" name="Text 9"/>
          <p:cNvSpPr/>
          <p:nvPr/>
        </p:nvSpPr>
        <p:spPr>
          <a:xfrm>
            <a:off x="7588329" y="1342073"/>
            <a:ext cx="1408033" cy="1759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1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Avg. Purchase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7588329" y="1577816"/>
            <a:ext cx="1600914" cy="2871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900" b="1" dirty="0">
                <a:solidFill>
                  <a:srgbClr val="EF9C82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$59.76</a:t>
            </a:r>
            <a:pPr algn="l" indent="0" marL="0">
              <a:lnSpc>
                <a:spcPts val="1100"/>
              </a:lnSpc>
              <a:buNone/>
            </a:pPr>
            <a:r>
              <a:rPr lang="en-US" sz="9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 · Avg. Rating: </a:t>
            </a:r>
            <a:pPr algn="l" indent="0" marL="0">
              <a:lnSpc>
                <a:spcPts val="1100"/>
              </a:lnSpc>
              <a:buNone/>
            </a:pPr>
            <a:r>
              <a:rPr lang="en-US" sz="900" b="1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3.75</a:t>
            </a:r>
            <a:pPr algn="l" indent="0" marL="0">
              <a:lnSpc>
                <a:spcPts val="1100"/>
              </a:lnSpc>
              <a:buNone/>
            </a:pPr>
            <a:r>
              <a:rPr lang="en-US" sz="9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 · Age range: 18–70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9368671" y="1222415"/>
            <a:ext cx="1840349" cy="762238"/>
          </a:xfrm>
          <a:prstGeom prst="roundRect">
            <a:avLst>
              <a:gd name="adj" fmla="val 2355"/>
            </a:avLst>
          </a:prstGeom>
          <a:solidFill>
            <a:srgbClr val="315251"/>
          </a:solidFill>
          <a:ln/>
        </p:spPr>
      </p:sp>
      <p:sp>
        <p:nvSpPr>
          <p:cNvPr id="14" name="Text 12"/>
          <p:cNvSpPr/>
          <p:nvPr/>
        </p:nvSpPr>
        <p:spPr>
          <a:xfrm>
            <a:off x="9488329" y="1342073"/>
            <a:ext cx="1408033" cy="1759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1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Top Category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9488329" y="1577816"/>
            <a:ext cx="1601033" cy="2871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9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Clothing leads with </a:t>
            </a:r>
            <a:pPr algn="l" indent="0" marL="0">
              <a:lnSpc>
                <a:spcPts val="1100"/>
              </a:lnSpc>
              <a:buNone/>
            </a:pPr>
            <a:r>
              <a:rPr lang="en-US" sz="900" b="1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~$100K revenue</a:t>
            </a:r>
            <a:pPr algn="l" indent="0" marL="0">
              <a:lnSpc>
                <a:spcPts val="1100"/>
              </a:lnSpc>
              <a:buNone/>
            </a:pPr>
            <a:r>
              <a:rPr lang="en-US" sz="9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 and ~1,800 sales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3428762" y="2428756"/>
            <a:ext cx="2252901" cy="2815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750" dirty="0">
                <a:solidFill>
                  <a:srgbClr val="FFD9BE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SQL Business Insights</a:t>
            </a:r>
            <a:endParaRPr lang="en-US" sz="1750" dirty="0"/>
          </a:p>
        </p:txBody>
      </p:sp>
      <p:sp>
        <p:nvSpPr>
          <p:cNvPr id="17" name="Shape 15"/>
          <p:cNvSpPr/>
          <p:nvPr/>
        </p:nvSpPr>
        <p:spPr>
          <a:xfrm>
            <a:off x="3428762" y="2799993"/>
            <a:ext cx="3856434" cy="625197"/>
          </a:xfrm>
          <a:prstGeom prst="roundRect">
            <a:avLst>
              <a:gd name="adj" fmla="val 2872"/>
            </a:avLst>
          </a:prstGeom>
          <a:solidFill>
            <a:srgbClr val="123332"/>
          </a:solidFill>
          <a:ln w="15240">
            <a:solidFill>
              <a:srgbClr val="4A6B6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563660" y="2934891"/>
            <a:ext cx="1408033" cy="1759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1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Revenue by Gender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563660" y="3146703"/>
            <a:ext cx="3586639" cy="1435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9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Male: </a:t>
            </a:r>
            <a:pPr algn="l" indent="0" marL="0">
              <a:lnSpc>
                <a:spcPts val="1100"/>
              </a:lnSpc>
              <a:buNone/>
            </a:pPr>
            <a:r>
              <a:rPr lang="en-US" sz="900" b="1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$157,890</a:t>
            </a:r>
            <a:pPr algn="l" indent="0" marL="0">
              <a:lnSpc>
                <a:spcPts val="1100"/>
              </a:lnSpc>
              <a:buNone/>
            </a:pPr>
            <a:r>
              <a:rPr lang="en-US" sz="9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 · Female: </a:t>
            </a:r>
            <a:pPr algn="l" indent="0" marL="0">
              <a:lnSpc>
                <a:spcPts val="1100"/>
              </a:lnSpc>
              <a:buNone/>
            </a:pPr>
            <a:r>
              <a:rPr lang="en-US" sz="900" b="1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$75,191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7344966" y="2799993"/>
            <a:ext cx="3856553" cy="625197"/>
          </a:xfrm>
          <a:prstGeom prst="roundRect">
            <a:avLst>
              <a:gd name="adj" fmla="val 2872"/>
            </a:avLst>
          </a:prstGeom>
          <a:solidFill>
            <a:srgbClr val="123332"/>
          </a:solidFill>
          <a:ln w="15240">
            <a:solidFill>
              <a:srgbClr val="4A6B6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479863" y="2934891"/>
            <a:ext cx="1408033" cy="1759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1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Discount Users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7479863" y="3146703"/>
            <a:ext cx="3586758" cy="1435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900" b="1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839 customers</a:t>
            </a:r>
            <a:pPr algn="l" indent="0" marL="0">
              <a:lnSpc>
                <a:spcPts val="1100"/>
              </a:lnSpc>
              <a:buNone/>
            </a:pPr>
            <a:r>
              <a:rPr lang="en-US" sz="9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 used discounts yet spent above average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3428762" y="3484959"/>
            <a:ext cx="3856434" cy="625197"/>
          </a:xfrm>
          <a:prstGeom prst="roundRect">
            <a:avLst>
              <a:gd name="adj" fmla="val 2872"/>
            </a:avLst>
          </a:prstGeom>
          <a:solidFill>
            <a:srgbClr val="123332"/>
          </a:solidFill>
          <a:ln w="15240">
            <a:solidFill>
              <a:srgbClr val="4A6B6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563660" y="3619857"/>
            <a:ext cx="1408033" cy="1759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1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Top-Rated Products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3563660" y="3831669"/>
            <a:ext cx="3586639" cy="1435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9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Gloves (3.86), Sandals (3.84), Boots (3.82), Hat (3.80), Skirt (3.78)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7344966" y="3484959"/>
            <a:ext cx="3856553" cy="625197"/>
          </a:xfrm>
          <a:prstGeom prst="roundRect">
            <a:avLst>
              <a:gd name="adj" fmla="val 2872"/>
            </a:avLst>
          </a:prstGeom>
          <a:solidFill>
            <a:srgbClr val="123332"/>
          </a:solidFill>
          <a:ln w="15240">
            <a:solidFill>
              <a:srgbClr val="4A6B6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479863" y="3619857"/>
            <a:ext cx="1408033" cy="1759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1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Shipping Comparison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7479863" y="3831669"/>
            <a:ext cx="3586758" cy="1435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9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Express avg: </a:t>
            </a:r>
            <a:pPr algn="l" indent="0" marL="0">
              <a:lnSpc>
                <a:spcPts val="1100"/>
              </a:lnSpc>
              <a:buNone/>
            </a:pPr>
            <a:r>
              <a:rPr lang="en-US" sz="900" b="1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$60.48</a:t>
            </a:r>
            <a:pPr algn="l" indent="0" marL="0">
              <a:lnSpc>
                <a:spcPts val="1100"/>
              </a:lnSpc>
              <a:buNone/>
            </a:pPr>
            <a:r>
              <a:rPr lang="en-US" sz="9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 vs. Standard: </a:t>
            </a:r>
            <a:pPr algn="l" indent="0" marL="0">
              <a:lnSpc>
                <a:spcPts val="1100"/>
              </a:lnSpc>
              <a:buNone/>
            </a:pPr>
            <a:r>
              <a:rPr lang="en-US" sz="900" b="1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$58.46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3428762" y="4169926"/>
            <a:ext cx="3856434" cy="768787"/>
          </a:xfrm>
          <a:prstGeom prst="roundRect">
            <a:avLst>
              <a:gd name="adj" fmla="val 2335"/>
            </a:avLst>
          </a:prstGeom>
          <a:solidFill>
            <a:srgbClr val="123332"/>
          </a:solidFill>
          <a:ln w="15240">
            <a:solidFill>
              <a:srgbClr val="4A6B6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563660" y="4304824"/>
            <a:ext cx="1408033" cy="1759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1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Subscribers vs. Non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3563660" y="4516636"/>
            <a:ext cx="3586639" cy="2871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9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Subscribers (1,053): avg $59.49 · Non-subscribers (2,847): avg $59.87 · Total revenue: $233K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7344966" y="4169926"/>
            <a:ext cx="3856553" cy="768787"/>
          </a:xfrm>
          <a:prstGeom prst="roundRect">
            <a:avLst>
              <a:gd name="adj" fmla="val 2335"/>
            </a:avLst>
          </a:prstGeom>
          <a:solidFill>
            <a:srgbClr val="123332"/>
          </a:solidFill>
          <a:ln w="15240">
            <a:solidFill>
              <a:srgbClr val="4A6B6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479863" y="4304824"/>
            <a:ext cx="1408033" cy="1759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1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Customer Segments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7479863" y="4516636"/>
            <a:ext cx="3586758" cy="1435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9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Loyal: </a:t>
            </a:r>
            <a:pPr algn="l" indent="0" marL="0">
              <a:lnSpc>
                <a:spcPts val="1100"/>
              </a:lnSpc>
              <a:buNone/>
            </a:pPr>
            <a:r>
              <a:rPr lang="en-US" sz="900" b="1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3,116</a:t>
            </a:r>
            <a:pPr algn="l" indent="0" marL="0">
              <a:lnSpc>
                <a:spcPts val="1100"/>
              </a:lnSpc>
              <a:buNone/>
            </a:pPr>
            <a:r>
              <a:rPr lang="en-US" sz="9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 · Returning: 701 · New: 83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3428762" y="5065752"/>
            <a:ext cx="2309813" cy="2815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750" dirty="0">
                <a:solidFill>
                  <a:srgbClr val="FFD9BE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Revenue by Age Group</a:t>
            </a:r>
            <a:endParaRPr lang="en-US" sz="1750" dirty="0"/>
          </a:p>
        </p:txBody>
      </p:sp>
      <p:pic>
        <p:nvPicPr>
          <p:cNvPr id="3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428762" y="5463834"/>
            <a:ext cx="3741420" cy="2047935"/>
          </a:xfrm>
          <a:prstGeom prst="rect">
            <a:avLst/>
          </a:prstGeom>
        </p:spPr>
      </p:pic>
      <p:sp>
        <p:nvSpPr>
          <p:cNvPr id="37" name="Text 34"/>
          <p:cNvSpPr/>
          <p:nvPr/>
        </p:nvSpPr>
        <p:spPr>
          <a:xfrm>
            <a:off x="7468672" y="5065752"/>
            <a:ext cx="3111341" cy="2815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750" dirty="0">
                <a:solidFill>
                  <a:srgbClr val="FFD9BE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Discount-Dependent Products</a:t>
            </a:r>
            <a:endParaRPr lang="en-US" sz="1750" dirty="0"/>
          </a:p>
        </p:txBody>
      </p:sp>
      <p:pic>
        <p:nvPicPr>
          <p:cNvPr id="3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68672" y="5463834"/>
            <a:ext cx="3741420" cy="2047935"/>
          </a:xfrm>
          <a:prstGeom prst="rect">
            <a:avLst/>
          </a:prstGeom>
        </p:spPr>
      </p:pic>
      <p:sp>
        <p:nvSpPr>
          <p:cNvPr id="39" name="Text 35"/>
          <p:cNvSpPr/>
          <p:nvPr/>
        </p:nvSpPr>
        <p:spPr>
          <a:xfrm>
            <a:off x="3428762" y="7666077"/>
            <a:ext cx="4267557" cy="2815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750" dirty="0">
                <a:solidFill>
                  <a:srgbClr val="FFD9BE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Power BI Dashboard Of  The Sales analysis</a:t>
            </a:r>
            <a:endParaRPr lang="en-US" sz="1750" dirty="0"/>
          </a:p>
        </p:txBody>
      </p:sp>
      <p:pic>
        <p:nvPicPr>
          <p:cNvPr id="4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8762" y="8104584"/>
            <a:ext cx="6159818" cy="3350419"/>
          </a:xfrm>
          <a:prstGeom prst="rect">
            <a:avLst/>
          </a:prstGeom>
        </p:spPr>
      </p:pic>
      <p:sp>
        <p:nvSpPr>
          <p:cNvPr id="41" name="Text 36"/>
          <p:cNvSpPr/>
          <p:nvPr/>
        </p:nvSpPr>
        <p:spPr>
          <a:xfrm>
            <a:off x="9888141" y="8091130"/>
            <a:ext cx="1320998" cy="1435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00"/>
              </a:lnSpc>
              <a:buNone/>
            </a:pPr>
            <a:endParaRPr lang="en-US" sz="900" dirty="0"/>
          </a:p>
        </p:txBody>
      </p:sp>
      <p:sp>
        <p:nvSpPr>
          <p:cNvPr id="42" name="Text 37"/>
          <p:cNvSpPr/>
          <p:nvPr/>
        </p:nvSpPr>
        <p:spPr>
          <a:xfrm>
            <a:off x="3428762" y="11611928"/>
            <a:ext cx="2858929" cy="2815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750" dirty="0">
                <a:solidFill>
                  <a:srgbClr val="FFD9BE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Business Recommendations</a:t>
            </a:r>
            <a:endParaRPr lang="en-US" sz="1750" dirty="0"/>
          </a:p>
        </p:txBody>
      </p:sp>
      <p:pic>
        <p:nvPicPr>
          <p:cNvPr id="43" name="Image 3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473648" y="11986796"/>
            <a:ext cx="179427" cy="179427"/>
          </a:xfrm>
          <a:prstGeom prst="rect">
            <a:avLst/>
          </a:prstGeom>
        </p:spPr>
      </p:pic>
      <p:sp>
        <p:nvSpPr>
          <p:cNvPr id="44" name="Text 38"/>
          <p:cNvSpPr/>
          <p:nvPr/>
        </p:nvSpPr>
        <p:spPr>
          <a:xfrm>
            <a:off x="3817620" y="11983164"/>
            <a:ext cx="1408033" cy="1759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1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Boost Subscriptions</a:t>
            </a:r>
            <a:endParaRPr lang="en-US" sz="1100" dirty="0"/>
          </a:p>
        </p:txBody>
      </p:sp>
      <p:sp>
        <p:nvSpPr>
          <p:cNvPr id="45" name="Text 39"/>
          <p:cNvSpPr/>
          <p:nvPr/>
        </p:nvSpPr>
        <p:spPr>
          <a:xfrm>
            <a:off x="3817620" y="12194977"/>
            <a:ext cx="3460075" cy="1435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9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Promote exclusive benefits to grow the 27% subscriber base</a:t>
            </a:r>
            <a:endParaRPr lang="en-US" sz="900" dirty="0"/>
          </a:p>
        </p:txBody>
      </p:sp>
      <p:pic>
        <p:nvPicPr>
          <p:cNvPr id="46" name="Image 4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397353" y="11986796"/>
            <a:ext cx="179427" cy="179427"/>
          </a:xfrm>
          <a:prstGeom prst="rect">
            <a:avLst/>
          </a:prstGeom>
        </p:spPr>
      </p:pic>
      <p:sp>
        <p:nvSpPr>
          <p:cNvPr id="47" name="Text 40"/>
          <p:cNvSpPr/>
          <p:nvPr/>
        </p:nvSpPr>
        <p:spPr>
          <a:xfrm>
            <a:off x="7741325" y="11983164"/>
            <a:ext cx="1408033" cy="1759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1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Loyalty Programs</a:t>
            </a:r>
            <a:endParaRPr lang="en-US" sz="1100" dirty="0"/>
          </a:p>
        </p:txBody>
      </p:sp>
      <p:sp>
        <p:nvSpPr>
          <p:cNvPr id="48" name="Text 41"/>
          <p:cNvSpPr/>
          <p:nvPr/>
        </p:nvSpPr>
        <p:spPr>
          <a:xfrm>
            <a:off x="7741325" y="12194977"/>
            <a:ext cx="3460194" cy="2871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9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Reward repeat buyers to accelerate movement into the Loyal segment</a:t>
            </a:r>
            <a:endParaRPr lang="en-US" sz="900" dirty="0"/>
          </a:p>
        </p:txBody>
      </p:sp>
      <p:pic>
        <p:nvPicPr>
          <p:cNvPr id="49" name="Image 5" descr="preencoded.png">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3473648" y="12605445"/>
            <a:ext cx="179427" cy="179427"/>
          </a:xfrm>
          <a:prstGeom prst="rect">
            <a:avLst/>
          </a:prstGeom>
        </p:spPr>
      </p:pic>
      <p:sp>
        <p:nvSpPr>
          <p:cNvPr id="50" name="Text 42"/>
          <p:cNvSpPr/>
          <p:nvPr/>
        </p:nvSpPr>
        <p:spPr>
          <a:xfrm>
            <a:off x="3817620" y="12601813"/>
            <a:ext cx="1474708" cy="1759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1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Review Discount Policy</a:t>
            </a:r>
            <a:endParaRPr lang="en-US" sz="1100" dirty="0"/>
          </a:p>
        </p:txBody>
      </p:sp>
      <p:sp>
        <p:nvSpPr>
          <p:cNvPr id="51" name="Text 43"/>
          <p:cNvSpPr/>
          <p:nvPr/>
        </p:nvSpPr>
        <p:spPr>
          <a:xfrm>
            <a:off x="3817620" y="12813625"/>
            <a:ext cx="3460075" cy="2871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9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Balance sales boosts with margin control — especially for Hat, Sneakers, Coat</a:t>
            </a:r>
            <a:endParaRPr lang="en-US" sz="900" dirty="0"/>
          </a:p>
        </p:txBody>
      </p:sp>
      <p:pic>
        <p:nvPicPr>
          <p:cNvPr id="52" name="Image 6" descr="preencoded.png">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7397353" y="12605445"/>
            <a:ext cx="179427" cy="179427"/>
          </a:xfrm>
          <a:prstGeom prst="rect">
            <a:avLst/>
          </a:prstGeom>
        </p:spPr>
      </p:pic>
      <p:sp>
        <p:nvSpPr>
          <p:cNvPr id="53" name="Text 44"/>
          <p:cNvSpPr/>
          <p:nvPr/>
        </p:nvSpPr>
        <p:spPr>
          <a:xfrm>
            <a:off x="7741325" y="12601813"/>
            <a:ext cx="1408033" cy="1759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1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Targeted Marketing</a:t>
            </a:r>
            <a:endParaRPr lang="en-US" sz="1100" dirty="0"/>
          </a:p>
        </p:txBody>
      </p:sp>
      <p:sp>
        <p:nvSpPr>
          <p:cNvPr id="54" name="Text 45"/>
          <p:cNvSpPr/>
          <p:nvPr/>
        </p:nvSpPr>
        <p:spPr>
          <a:xfrm>
            <a:off x="7741325" y="12813625"/>
            <a:ext cx="3460194" cy="2871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9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Focus on Young Adults (highest revenue) and express-shipping users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2026-02-20T17:03:45Z</dcterms:created>
  <dcterms:modified xsi:type="dcterms:W3CDTF">2026-02-20T17:03:45Z</dcterms:modified>
</cp:coreProperties>
</file>